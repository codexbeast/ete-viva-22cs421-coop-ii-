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8" r:id="rId6"/>
    <p:sldId id="279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00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Analysis of Machine Learning Models for Flight Delay Prediction Using Evaluation Metrics</a:t>
            </a:r>
            <a:endParaRPr lang="en-US" sz="20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Adarsh Gaur : 2210991176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Jha : 2210992310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Aditi Singh : 2210991182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Devashish Chauhan : 2210991499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Isha Kansal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79ED3-97B8-53C6-2613-1125D9D6B8DF}"/>
              </a:ext>
            </a:extLst>
          </p:cNvPr>
          <p:cNvSpPr txBox="1"/>
          <p:nvPr/>
        </p:nvSpPr>
        <p:spPr>
          <a:xfrm>
            <a:off x="234893" y="1363302"/>
            <a:ext cx="3875714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transportation is a critical global pillar, yet </a:t>
            </a:r>
            <a:r>
              <a:rPr lang="en-US" b="1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delays</a:t>
            </a:r>
            <a:r>
              <a:rPr lang="en-US" b="0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remain a systemic challenge causing significant economic and operational strain.</a:t>
            </a:r>
          </a:p>
          <a:p>
            <a:pPr algn="l">
              <a:buNone/>
            </a:pPr>
            <a:endParaRPr lang="en-US" b="0" i="0" dirty="0">
              <a:solidFill>
                <a:srgbClr val="33415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Impact:</a:t>
            </a:r>
            <a:r>
              <a:rPr lang="en-US" b="0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Increased fuel costs, crew rescheduling, and operational inefficiencies.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Passenger Experience:</a:t>
            </a:r>
            <a:r>
              <a:rPr lang="en-US" b="0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Inconvenience, missed connections, and reduced satisfaction.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Advantage:</a:t>
            </a:r>
            <a:r>
              <a:rPr lang="en-US" b="0" i="0" dirty="0">
                <a:solidFill>
                  <a:srgbClr val="3341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Traditional statistical methods fall short; Machine Learning offers pattern recognition at scale.</a:t>
            </a:r>
          </a:p>
        </p:txBody>
      </p:sp>
      <p:pic>
        <p:nvPicPr>
          <p:cNvPr id="1026" name="Picture 2" descr="Commercial airplane at gate">
            <a:extLst>
              <a:ext uri="{FF2B5EF4-FFF2-40B4-BE49-F238E27FC236}">
                <a16:creationId xmlns:a16="http://schemas.microsoft.com/office/drawing/2014/main" id="{343E6B5D-289A-A856-E818-6B1235113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085" y="2307317"/>
            <a:ext cx="4747989" cy="265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84FD67-6511-6844-BF50-B6077708B360}"/>
              </a:ext>
            </a:extLst>
          </p:cNvPr>
          <p:cNvSpPr txBox="1"/>
          <p:nvPr/>
        </p:nvSpPr>
        <p:spPr>
          <a:xfrm>
            <a:off x="109057" y="226931"/>
            <a:ext cx="6224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sz="2800" b="1" i="0" cap="all" dirty="0">
                <a:solidFill>
                  <a:srgbClr val="0F17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</a:t>
            </a: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CDB8-DCAC-803C-8850-BD64B3E4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46" y="0"/>
            <a:ext cx="5486040" cy="947956"/>
          </a:xfrm>
        </p:spPr>
        <p:txBody>
          <a:bodyPr/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41D86-860D-ED41-2FDC-E56F297E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92" y="2704165"/>
            <a:ext cx="8353026" cy="177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5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033F-6A6D-1B05-200A-9CEDBD8F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Project Objectives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98E69-D3D5-3B2F-4D31-CBF1D5EEA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8978"/>
            <a:ext cx="9144000" cy="293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0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CA7A-CE48-9173-D76D-374C585A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 Methodology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1D253-F9C5-A874-63BB-90708BF32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7437"/>
            <a:ext cx="9144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30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E26E-FC89-7068-0302-1283E493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1" y="0"/>
            <a:ext cx="5486040" cy="914040"/>
          </a:xfrm>
        </p:spPr>
        <p:txBody>
          <a:bodyPr/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Engineering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F8E05-7B35-4C41-38FD-18EEC56827B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49411" y="1568741"/>
            <a:ext cx="3466244" cy="425633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Preprocessing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the dataset for optimal model consumption: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Removal: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Detecting and purging anomalies in timing records.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Converting categorical names (Airlines, Airports) to numerical vectors.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Scaling features to a uniform range for SVM efficiency.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19C0D-A8CF-22E1-229C-2A5D12434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461" y="1981811"/>
            <a:ext cx="5039128" cy="327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4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F349-890E-A64C-0308-D471E382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68" y="0"/>
            <a:ext cx="5486040" cy="914040"/>
          </a:xfrm>
        </p:spPr>
        <p:txBody>
          <a:bodyPr/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Technology Stack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68131-033E-5D88-6DC3-A62C845BB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0930"/>
            <a:ext cx="9144000" cy="389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29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565D-53B7-C2EE-CF7C-DC5E06F9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12" y="0"/>
            <a:ext cx="5486040" cy="914040"/>
          </a:xfrm>
        </p:spPr>
        <p:txBody>
          <a:bodyPr/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Comparison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C166F-7061-F98F-C163-3A6C5CFF2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5343"/>
            <a:ext cx="9144000" cy="344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7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83DA-7A35-9A13-D4F9-85CFB0FB3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02" y="0"/>
            <a:ext cx="5486040" cy="914040"/>
          </a:xfrm>
        </p:spPr>
        <p:txBody>
          <a:bodyPr/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Metrics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AB542-2437-7D9D-63DF-1E3BC4CAC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566"/>
            <a:ext cx="9144000" cy="395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07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F7C8-79AC-BDA8-5265-6CF65667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80" y="0"/>
            <a:ext cx="5486040" cy="91404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3DFD5-C5B7-82D2-1C04-BA38BFEC4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482"/>
            <a:ext cx="9144000" cy="509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5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32045E-C550-F5C5-5E0A-5524DD42BD1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361501" y="2205319"/>
            <a:ext cx="4962087" cy="2760964"/>
          </a:xfrm>
        </p:spPr>
        <p:txBody>
          <a:bodyPr/>
          <a:lstStyle/>
          <a:p>
            <a:pPr marL="0" indent="0">
              <a:buNone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47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34725</TotalTime>
  <Words>222</Words>
  <Application>Microsoft Office PowerPoint</Application>
  <PresentationFormat>On-screen Show (4:3)</PresentationFormat>
  <Paragraphs>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   Project Objectives</vt:lpstr>
      <vt:lpstr>  System Methodology</vt:lpstr>
      <vt:lpstr>Data Preprocessing &amp; Engineering</vt:lpstr>
      <vt:lpstr>Tools &amp; Technology Stack</vt:lpstr>
      <vt:lpstr>Model Accuracy Comparison</vt:lpstr>
      <vt:lpstr>Comparative Performance Metrics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Adarsh Gaur</cp:lastModifiedBy>
  <cp:revision>2303</cp:revision>
  <dcterms:created xsi:type="dcterms:W3CDTF">2010-04-09T07:36:15Z</dcterms:created>
  <dcterms:modified xsi:type="dcterms:W3CDTF">2026-05-15T07:52:32Z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MSIP_Label_2a535040-0af2-483f-adc3-a132c21e3e2b_Enabled">
    <vt:lpwstr>true</vt:lpwstr>
  </property>
  <property fmtid="{D5CDD505-2E9C-101B-9397-08002B2CF9AE}" pid="15" name="MSIP_Label_2a535040-0af2-483f-adc3-a132c21e3e2b_SetDate">
    <vt:lpwstr>2026-05-15T07:26:33Z</vt:lpwstr>
  </property>
  <property fmtid="{D5CDD505-2E9C-101B-9397-08002B2CF9AE}" pid="16" name="MSIP_Label_2a535040-0af2-483f-adc3-a132c21e3e2b_Method">
    <vt:lpwstr>Standard</vt:lpwstr>
  </property>
  <property fmtid="{D5CDD505-2E9C-101B-9397-08002B2CF9AE}" pid="17" name="MSIP_Label_2a535040-0af2-483f-adc3-a132c21e3e2b_Name">
    <vt:lpwstr>EPAM_Confidential</vt:lpwstr>
  </property>
  <property fmtid="{D5CDD505-2E9C-101B-9397-08002B2CF9AE}" pid="18" name="MSIP_Label_2a535040-0af2-483f-adc3-a132c21e3e2b_SiteId">
    <vt:lpwstr>b41b72d0-4e9f-4c26-8a69-f949f367c91d</vt:lpwstr>
  </property>
  <property fmtid="{D5CDD505-2E9C-101B-9397-08002B2CF9AE}" pid="19" name="MSIP_Label_2a535040-0af2-483f-adc3-a132c21e3e2b_ActionId">
    <vt:lpwstr>cab83ec4-f4fc-4640-903f-3d38380815d7</vt:lpwstr>
  </property>
  <property fmtid="{D5CDD505-2E9C-101B-9397-08002B2CF9AE}" pid="20" name="MSIP_Label_2a535040-0af2-483f-adc3-a132c21e3e2b_ContentBits">
    <vt:lpwstr>0</vt:lpwstr>
  </property>
  <property fmtid="{D5CDD505-2E9C-101B-9397-08002B2CF9AE}" pid="21" name="MSIP_Label_2a535040-0af2-483f-adc3-a132c21e3e2b_Tag">
    <vt:lpwstr>10, 3, 0, 1</vt:lpwstr>
  </property>
</Properties>
</file>